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  <p:sldMasterId id="2147483674" r:id="rId5"/>
  </p:sldMasterIdLst>
  <p:notesMasterIdLst>
    <p:notesMasterId r:id="rId16"/>
  </p:notesMasterIdLst>
  <p:handoutMasterIdLst>
    <p:handoutMasterId r:id="rId17"/>
  </p:handoutMasterIdLst>
  <p:sldIdLst>
    <p:sldId id="256" r:id="rId6"/>
    <p:sldId id="257" r:id="rId7"/>
    <p:sldId id="271" r:id="rId8"/>
    <p:sldId id="272" r:id="rId9"/>
    <p:sldId id="273" r:id="rId10"/>
    <p:sldId id="274" r:id="rId11"/>
    <p:sldId id="276" r:id="rId12"/>
    <p:sldId id="275" r:id="rId13"/>
    <p:sldId id="269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9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>
              <a:lnSpc>
                <a:spcPct val="100000"/>
              </a:lnSpc>
            </a:pPr>
            <a:fld id="{94037556-9E8A-4092-B698-C7B51BCB8D66}" type="datetime1">
              <a:rPr lang="en-US" sz="1200" b="0" strike="noStrike" spc="-1" smtClean="0">
                <a:latin typeface="Times New Roman"/>
              </a:rPr>
              <a:t>4/29/2026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r>
              <a:rPr lang="en-US" spc="-1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 smtClean="0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877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37556-9E8A-4092-B698-C7B51BCB8D6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4/29/2026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490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3D964FCB-4B12-48F3-8EC8-4E7C43142726}" type="datetime1">
              <a:rPr lang="en-US" sz="1200" b="0" strike="noStrike" spc="-1" smtClean="0">
                <a:latin typeface="Times New Roman"/>
              </a:rPr>
              <a:t>4/29/2026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r>
              <a:rPr lang="en-US" spc="-1" dirty="0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49" r:id="rId2"/>
    <p:sldLayoutId id="2147483650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64FCB-4B12-48F3-8EC8-4E7C4314272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4/29/2026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52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4400" dirty="0"/>
              <a:t>Mental Health and its Impact on Public Productivity</a:t>
            </a:r>
            <a:endParaRPr lang="en-IN" sz="44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Khushi Bansal , Goransh Handa and Aryan Sharma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Gurpreet Singh, Department of Computer Science and Engineering, Chitkara University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Objective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lang="en-US" sz="800" dirty="0"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19DC60-46EE-4FD7-1CA9-69715B4C1CD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4889" y="652406"/>
            <a:ext cx="8229600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Mental health is a critical factor influencing productivity in academic and professional settings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conditions like stress, anxiety, depression, and burnout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Affects cognitive abilities such as focus, memory, and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mental health leads to reduced efficiency, motivation, and engagement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the relationship between mental health and productivity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how psychological well-being impacts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highlight the need for maintaining mental health for sustainable productivity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365760" y="-17004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lang="en-US" sz="800" dirty="0"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2C80CB-3DEE-4161-BCFF-3A4E87302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28" y="805204"/>
            <a:ext cx="89803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secondary data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peer-reviewed journals and research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Around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relevant studies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sources include academic publications and scholarly databases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used: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 analysis of different studies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Thematic analysis to identify common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objectives, findings, and limitations of each study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based on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qualitative, literature review approach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Identification of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gaps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future improvements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(1/2)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lang="en-US" sz="800" dirty="0">
              <a:latin typeface="Calibri"/>
            </a:endParaRP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922A12-81EC-B8C9-E3A2-B9B40C0E5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72" y="1109742"/>
            <a:ext cx="7790915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dirty="0">
                <a:latin typeface="Arial" panose="020B0604020202020204" pitchFamily="34" charset="0"/>
              </a:rPr>
              <a:t>Mental health strongly influences </a:t>
            </a:r>
            <a:r>
              <a:rPr lang="en-US" altLang="en-US" sz="3000" b="1" dirty="0">
                <a:latin typeface="Arial" panose="020B0604020202020204" pitchFamily="34" charset="0"/>
              </a:rPr>
              <a:t>individual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 dirty="0">
                <a:latin typeface="Arial" panose="020B0604020202020204" pitchFamily="34" charset="0"/>
              </a:rPr>
              <a:t>productivity levels</a:t>
            </a:r>
            <a:r>
              <a:rPr lang="en-US" altLang="en-US" sz="3000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Stress and anxiety reduce: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 span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retention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Decision-making 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5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Burnout leads to: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Emotional exhaustion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motivation and engagement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(2/2)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600" dirty="0">
                <a:latin typeface="Arial" panose="020B0604020202020204" pitchFamily="34" charset="0"/>
              </a:rPr>
              <a:t>Poor mental health affects both: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Individual performance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Team collaboration and communication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Supportive environments (low stress, good communication) improve productivity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600" dirty="0">
                <a:latin typeface="Arial" panose="020B0604020202020204" pitchFamily="34" charset="0"/>
              </a:rPr>
              <a:t>Digital tools can: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Enhance productivity when used properly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Increase anxiety if overused or relied on excessively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lang="en-US" sz="800" dirty="0"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8E021C-9BA5-9CCD-AC90-040D09F6A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0" y="1753923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lang="en-US" sz="800" dirty="0"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6A762D-5698-DA6A-5BA3-4301BEA82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48" y="939998"/>
            <a:ext cx="9130050" cy="5339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relationship exists between mental health and productivity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Psychological well-being directly impacts cognitive and emotional functioning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mental health leads to: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absenteeism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work quality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mental health promotes: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focus and creativity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engagement and efficiency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Organizations and institutions must: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mental health awareness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supportive environments and resources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187E-36E4-E368-BBB8-BBC256A97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Snapshots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AB4E0-12CD-B325-FC0E-4CDA80E3A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3" y="922733"/>
            <a:ext cx="4201151" cy="56983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B467B8-47C5-343C-C8F7-A1F4B0666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796" y="922733"/>
            <a:ext cx="4696691" cy="569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8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FF6F58-264A-F010-93DD-0AF3A6360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" y="953136"/>
            <a:ext cx="9037320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longitudinal studies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understand long-term effects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diverse populations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(different cultures, professions, age groups)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evolving impact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technologies and remote 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effectiveness of: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Counseling programs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Stress management techniques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Mental health intervention </a:t>
            </a:r>
            <a:r>
              <a:rPr lang="en-US" altLang="en-US" sz="2400" dirty="0">
                <a:latin typeface="Arial" panose="020B0604020202020204" pitchFamily="34" charset="0"/>
              </a:rPr>
              <a:t>Include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policies and workplace strategies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interdisciplinary research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combining psychology, data science, and management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10" name="ReferencesBody"/>
          <p:cNvSpPr txBox="1"/>
          <p:nvPr/>
        </p:nvSpPr>
        <p:spPr>
          <a:xfrm>
            <a:off x="457200" y="1200000"/>
            <a:ext cx="8229600" cy="51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15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dirty="0"/>
              <a:t>[1] R. C. Kessler, P. E. Greenberg, K. D. Mickelson, L. M. </a:t>
            </a:r>
            <a:r>
              <a:rPr lang="en-US" sz="1400" dirty="0" err="1"/>
              <a:t>Meneades</a:t>
            </a:r>
            <a:r>
              <a:rPr lang="en-US" sz="1400" dirty="0"/>
              <a:t>, and P. S. Wang, “The effects of chronic medical conditions on work loss and productivity,” Journal of Occupational and Environmental Medicine, vol. 43, no. 3, pp. 218–225, 2001.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dirty="0"/>
              <a:t> [2] C. Maslach and S. E. Jackson, “The measurement of experienced burnout,” Journal of Occupational Behavior, vol. 2, no. 2, pp. 99–113, 1981.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dirty="0"/>
              <a:t> [3] A. B. Bakker and E. Demerouti, “The Job Demands–Resources model: State of the art,” Journal of Managerial Psychology, vol. 22, no. 3, pp. 309–328, 2007.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dirty="0"/>
              <a:t> [4] W. B. Schaufeli, M. Salanova, V. González‑</a:t>
            </a:r>
            <a:r>
              <a:rPr lang="en-US" sz="1400" dirty="0" err="1"/>
              <a:t>Romá</a:t>
            </a:r>
            <a:r>
              <a:rPr lang="en-US" sz="1400" dirty="0"/>
              <a:t>, and A. B. Bakker, “The measurement of engagement and burnout,” Journal of Happiness Studies, vol. 3, no. 1, pp. 71–92, 2002. 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dirty="0"/>
              <a:t>[5] E. L. Deci and R. M. Ryan, “The ‘what’ and ‘why’ of goal pursuits: Human needs and the self‑determination of behavior,” Psychological Inquiry, vol. 11, no. 4, pp. 227–268, 2000.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dirty="0"/>
              <a:t> [6] R. S. Lazarus and S. Folkman, Stress, Appraisal, and Coping. New York, NY, USA: Springer, 1984.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dirty="0"/>
              <a:t> [7] H. W. Marsh and R. G. Craven, “Reciprocal effects of self‑concept and performance,” Perspectives on Psychological Science, vol. 1, no. 2, pp. 133–163, 2006.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dirty="0"/>
              <a:t> [8] C. L. Cooper and S. Cartwright, “Healthy mind; healthy organization,” Human Relations, vol. 47, no. 4, pp. 455–471, 1994.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dirty="0"/>
              <a:t> [9] D. Goleman, Emotional Intelligence: Why It Can Matter More Than IQ. New York, NY, USA: Bantam Books, 1995. 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1400" dirty="0"/>
              <a:t>[10] T. M. Amabile, Creativity in Context. Boulder, CO, USA: Westview Press, 1996. </a:t>
            </a:r>
            <a:endParaRPr lang="en-US" sz="14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34827</TotalTime>
  <Words>857</Words>
  <Application>Microsoft Office PowerPoint</Application>
  <PresentationFormat>On-screen Show (4:3)</PresentationFormat>
  <Paragraphs>116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c1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Snapshots </vt:lpstr>
      <vt:lpstr>PowerPoint Presentation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goransh handa</cp:lastModifiedBy>
  <cp:revision>2305</cp:revision>
  <dcterms:created xsi:type="dcterms:W3CDTF">2010-04-09T07:36:15Z</dcterms:created>
  <dcterms:modified xsi:type="dcterms:W3CDTF">2026-04-29T05:53:49Z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