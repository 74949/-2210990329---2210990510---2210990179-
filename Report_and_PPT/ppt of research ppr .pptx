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  <p:sldMasterId id="2147483674" r:id="rId5"/>
  </p:sldMasterIdLst>
  <p:notesMasterIdLst>
    <p:notesMasterId r:id="rId16"/>
  </p:notesMasterIdLst>
  <p:handoutMasterIdLst>
    <p:handoutMasterId r:id="rId17"/>
  </p:handoutMasterIdLst>
  <p:sldIdLst>
    <p:sldId id="256" r:id="rId6"/>
    <p:sldId id="257" r:id="rId7"/>
    <p:sldId id="271" r:id="rId8"/>
    <p:sldId id="272" r:id="rId9"/>
    <p:sldId id="273" r:id="rId10"/>
    <p:sldId id="274" r:id="rId11"/>
    <p:sldId id="276" r:id="rId12"/>
    <p:sldId id="275" r:id="rId13"/>
    <p:sldId id="269" r:id="rId14"/>
    <p:sldId id="268" r:id="rId15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0" autoAdjust="0"/>
    <p:restoredTop sz="94660"/>
  </p:normalViewPr>
  <p:slideViewPr>
    <p:cSldViewPr snapToGrid="0">
      <p:cViewPr varScale="1">
        <p:scale>
          <a:sx n="74" d="100"/>
          <a:sy n="74" d="100"/>
        </p:scale>
        <p:origin x="758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ushi Bansal" userId="3bdda622a9026a40" providerId="LiveId" clId="{55BD32C5-78FD-4AF0-9096-1B900359974C}"/>
    <pc:docChg chg="addSld modSld">
      <pc:chgData name="Khushi Bansal" userId="3bdda622a9026a40" providerId="LiveId" clId="{55BD32C5-78FD-4AF0-9096-1B900359974C}" dt="2026-04-28T13:50:32.010" v="19" actId="14100"/>
      <pc:docMkLst>
        <pc:docMk/>
      </pc:docMkLst>
      <pc:sldChg chg="addSp modSp new mod">
        <pc:chgData name="Khushi Bansal" userId="3bdda622a9026a40" providerId="LiveId" clId="{55BD32C5-78FD-4AF0-9096-1B900359974C}" dt="2026-04-28T13:50:32.010" v="19" actId="14100"/>
        <pc:sldMkLst>
          <pc:docMk/>
          <pc:sldMk cId="1930384545" sldId="276"/>
        </pc:sldMkLst>
        <pc:spChg chg="mod">
          <ac:chgData name="Khushi Bansal" userId="3bdda622a9026a40" providerId="LiveId" clId="{55BD32C5-78FD-4AF0-9096-1B900359974C}" dt="2026-04-28T13:49:33.973" v="10" actId="20577"/>
          <ac:spMkLst>
            <pc:docMk/>
            <pc:sldMk cId="1930384545" sldId="276"/>
            <ac:spMk id="2" creationId="{4B72187E-36E4-E368-BBB8-BBC256A97E15}"/>
          </ac:spMkLst>
        </pc:spChg>
        <pc:picChg chg="add mod">
          <ac:chgData name="Khushi Bansal" userId="3bdda622a9026a40" providerId="LiveId" clId="{55BD32C5-78FD-4AF0-9096-1B900359974C}" dt="2026-04-28T13:50:32.010" v="19" actId="14100"/>
          <ac:picMkLst>
            <pc:docMk/>
            <pc:sldMk cId="1930384545" sldId="276"/>
            <ac:picMk id="4" creationId="{C9CAB4E0-12CD-B325-FC0E-4CDA80E3A9EC}"/>
          </ac:picMkLst>
        </pc:picChg>
        <pc:picChg chg="add mod">
          <ac:chgData name="Khushi Bansal" userId="3bdda622a9026a40" providerId="LiveId" clId="{55BD32C5-78FD-4AF0-9096-1B900359974C}" dt="2026-04-28T13:50:23.096" v="16" actId="1076"/>
          <ac:picMkLst>
            <pc:docMk/>
            <pc:sldMk cId="1930384545" sldId="276"/>
            <ac:picMk id="6" creationId="{D5B467B8-47C5-343C-C8F7-A1F4B066686E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tkara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6DDB5-D18D-1374-00F7-A254A9F6E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E2036B-9DA1-37E6-A576-12F67BADC6F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69633" y="6562107"/>
            <a:ext cx="2133360" cy="364680"/>
          </a:xfrm>
        </p:spPr>
        <p:txBody>
          <a:bodyPr/>
          <a:lstStyle/>
          <a:p>
            <a:pPr>
              <a:lnSpc>
                <a:spcPct val="100000"/>
              </a:lnSpc>
            </a:pPr>
            <a:fld id="{94037556-9E8A-4092-B698-C7B51BCB8D66}" type="datetime1">
              <a:rPr lang="en-US" sz="1200" b="0" strike="noStrike" spc="-1" smtClean="0">
                <a:latin typeface="Times New Roman"/>
              </a:rPr>
              <a:t>4/28/2026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466EA5-0EC7-9480-2156-C28EAD7D33E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079" y="6566396"/>
            <a:ext cx="3577504" cy="364680"/>
          </a:xfrm>
        </p:spPr>
        <p:txBody>
          <a:bodyPr/>
          <a:lstStyle/>
          <a:p>
            <a:r>
              <a:rPr lang="en-US" spc="-1">
                <a:latin typeface="Times New Roman"/>
              </a:rPr>
              <a:t>CO-OP project at Industry (Module-1)/22CS411</a:t>
            </a:r>
            <a:endParaRPr lang="en-GB" sz="1200" spc="-1" dirty="0"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EBDB50-CE80-19E7-5B74-8A9B3ADBFE6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10640" y="6562107"/>
            <a:ext cx="2133360" cy="364680"/>
          </a:xfrm>
        </p:spPr>
        <p:txBody>
          <a:bodyPr/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 smtClean="0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 dirty="0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58773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tkara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6DDB5-D18D-1374-00F7-A254A9F6E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E2036B-9DA1-37E6-A576-12F67BADC6F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69633" y="6562107"/>
            <a:ext cx="2133360" cy="36468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037556-9E8A-4092-B698-C7B51BCB8D66}" type="datetime1">
              <a:rPr kumimoji="0" lang="en-US" sz="1200" b="0" i="0" u="none" strike="noStrike" kern="1200" cap="none" spc="-1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4/28/2026</a:t>
            </a:fld>
            <a:endParaRPr kumimoji="0" lang="en-GB" sz="1200" b="0" i="0" u="none" strike="noStrike" kern="1200" cap="none" spc="-1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466EA5-0EC7-9480-2156-C28EAD7D33E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124079" y="6566396"/>
            <a:ext cx="3577504" cy="36468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</a:rPr>
              <a:t>CO-OP project at Industry (Module-1)/22CS411</a:t>
            </a:r>
            <a:endParaRPr kumimoji="0" lang="en-GB" sz="1200" b="0" i="0" u="none" strike="noStrike" kern="1200" cap="none" spc="-1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EBDB50-CE80-19E7-5B74-8A9B3ADBFE6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10640" y="6562107"/>
            <a:ext cx="2133360" cy="36468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FDC92E-FF5D-4613-8499-B15BC16E50D9}" type="slidenum">
              <a:rPr kumimoji="0" lang="en-US" sz="1200" b="0" i="0" u="none" strike="noStrike" kern="1200" cap="none" spc="-1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MS PGothic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200" b="0" i="0" u="none" strike="noStrike" kern="1200" cap="none" spc="-1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1490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pic>
        <p:nvPicPr>
          <p:cNvPr id="2" name="Picture 10" descr="LOGO.gif"/>
          <p:cNvPicPr/>
          <p:nvPr/>
        </p:nvPicPr>
        <p:blipFill>
          <a:blip r:embed="rId5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5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  <p:pic>
          <p:nvPicPr>
            <p:cNvPr id="6" name="Picture 9" descr="LOGO.gif"/>
            <p:cNvPicPr/>
            <p:nvPr/>
          </p:nvPicPr>
          <p:blipFill>
            <a:blip r:embed="rId5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8" name="Picture 15" descr="logo.jpg"/>
          <p:cNvPicPr/>
          <p:nvPr/>
        </p:nvPicPr>
        <p:blipFill>
          <a:blip r:embed="rId6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5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  <p:pic>
          <p:nvPicPr>
            <p:cNvPr id="12" name="Picture 9" descr="LOGO.gif"/>
            <p:cNvPicPr/>
            <p:nvPr/>
          </p:nvPicPr>
          <p:blipFill>
            <a:blip r:embed="rId5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14" name="Picture 15" descr="logo.jpg"/>
          <p:cNvPicPr/>
          <p:nvPr/>
        </p:nvPicPr>
        <p:blipFill>
          <a:blip r:embed="rId6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fld id="{3D964FCB-4B12-48F3-8EC8-4E7C43142726}" type="datetime1">
              <a:rPr lang="en-US" sz="1200" b="0" strike="noStrike" spc="-1" smtClean="0">
                <a:latin typeface="Times New Roman"/>
              </a:rPr>
              <a:t>4/28/2026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200"/>
            </a:lvl1pPr>
          </a:lstStyle>
          <a:p>
            <a:r>
              <a:rPr lang="en-US" spc="-1" dirty="0">
                <a:latin typeface="Times New Roman"/>
              </a:rPr>
              <a:t>CO-OP project at Industry (Module-1)/22CS411</a:t>
            </a:r>
            <a:endParaRPr lang="en-GB" sz="1200" spc="-1" dirty="0">
              <a:latin typeface="Times New Roman"/>
            </a:endParaRP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 dirty="0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49" r:id="rId2"/>
    <p:sldLayoutId id="2147483650" r:id="rId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2" name="Picture 10" descr="LOGO.gif"/>
          <p:cNvPicPr/>
          <p:nvPr/>
        </p:nvPicPr>
        <p:blipFill>
          <a:blip r:embed="rId3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3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pic>
          <p:nvPicPr>
            <p:cNvPr id="6" name="Picture 9" descr="LOGO.gif"/>
            <p:cNvPicPr/>
            <p:nvPr/>
          </p:nvPicPr>
          <p:blipFill>
            <a:blip r:embed="rId3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</p:grpSp>
      <p:pic>
        <p:nvPicPr>
          <p:cNvPr id="8" name="Picture 15" descr="logo.jpg"/>
          <p:cNvPicPr/>
          <p:nvPr/>
        </p:nvPicPr>
        <p:blipFill>
          <a:blip r:embed="rId4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3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pic>
          <p:nvPicPr>
            <p:cNvPr id="12" name="Picture 9" descr="LOGO.gif"/>
            <p:cNvPicPr/>
            <p:nvPr/>
          </p:nvPicPr>
          <p:blipFill>
            <a:blip r:embed="rId3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</p:grpSp>
      <p:pic>
        <p:nvPicPr>
          <p:cNvPr id="14" name="Picture 15" descr="logo.jpg"/>
          <p:cNvPicPr/>
          <p:nvPr/>
        </p:nvPicPr>
        <p:blipFill>
          <a:blip r:embed="rId4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64FCB-4B12-48F3-8EC8-4E7C43142726}" type="datetime1">
              <a:rPr kumimoji="0" lang="en-US" sz="1200" b="0" i="0" u="none" strike="noStrike" kern="1200" cap="none" spc="-1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4/28/2026</a:t>
            </a:fld>
            <a:endParaRPr kumimoji="0" lang="en-GB" sz="1200" b="0" i="0" u="none" strike="noStrike" kern="1200" cap="none" spc="-1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</a:rPr>
              <a:t>CO-OP project at Industry (Module-1)/22CS411</a:t>
            </a:r>
            <a:endParaRPr kumimoji="0" lang="en-GB" sz="1200" b="0" i="0" u="none" strike="noStrike" kern="1200" cap="none" spc="-1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</a:endParaRP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FDC92E-FF5D-4613-8499-B15BC16E50D9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MS PGothic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200" b="0" i="0" u="none" strike="noStrike" kern="1200" cap="none" spc="-1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05265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717485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/>
            <a:r>
              <a:rPr lang="en-US" sz="4400" dirty="0"/>
              <a:t>Mental Health and its Impact on Public Productivity</a:t>
            </a:r>
            <a:endParaRPr lang="en-IN" sz="4400" dirty="0"/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Khushi Bansal , Goransh Handa and Aryan Sharma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Computer Science and Engineering</a:t>
            </a: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 Gurpreet Singh, Department of Computer Science and Engineering, Chitkara University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&amp; Objective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769390" y="6592494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endParaRPr lang="en-US" sz="800" dirty="0"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19DC60-46EE-4FD7-1CA9-69715B4C1CDB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324889" y="652406"/>
            <a:ext cx="8229600" cy="5940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Mental health is a critical factor influencing productivity in academic and professional settings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Includes conditions like stress, anxiety, depression, and burnout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Affects cognitive abilities such as focus, memory, and decision-making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Poor mental health leads to reduced efficiency, motivation, and engagement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Objective: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analyze the relationship between mental health and productivity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understand how psychological well-being impacts performance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highlight the need for maintaining mental health for sustainable productivity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365760" y="-17004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769390" y="6592494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endParaRPr lang="en-US" sz="800" dirty="0"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2C80CB-3DEE-4161-BCFF-3A4E873027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828" y="805204"/>
            <a:ext cx="8980344" cy="5447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Uses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secondary data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from peer-reviewed journals and research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papers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Around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15 relevant studies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analyzed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sources include academic publications and scholarly databases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2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Methods used: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Comparative analysis of different studies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Thematic analysis to identify common patterns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2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Focus on: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Research objectives, findings, and limitations of each study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Research based on a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qualitative, literature review approach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Identification of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research gaps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future improvements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 (1/2)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769390" y="6592494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endParaRPr lang="en-US" sz="800" dirty="0">
              <a:latin typeface="Calibri"/>
            </a:endParaRP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922A12-81EC-B8C9-E3A2-B9B40C0E5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672" y="1109742"/>
            <a:ext cx="7790915" cy="50321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>
                <a:latin typeface="Arial" panose="020B0604020202020204" pitchFamily="34" charset="0"/>
              </a:rPr>
              <a:t>Mental health strongly influences </a:t>
            </a:r>
            <a:r>
              <a:rPr lang="en-US" altLang="en-US" sz="3000" b="1" dirty="0">
                <a:latin typeface="Arial" panose="020B0604020202020204" pitchFamily="34" charset="0"/>
              </a:rPr>
              <a:t>individual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b="1" dirty="0">
                <a:latin typeface="Arial" panose="020B0604020202020204" pitchFamily="34" charset="0"/>
              </a:rPr>
              <a:t>productivity levels</a:t>
            </a:r>
            <a:r>
              <a:rPr lang="en-US" altLang="en-US" sz="3000" dirty="0"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Stress and anxiety reduce: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Attention span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Memory retention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Decision-making 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5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Burnout leads to: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Emotional exhaustion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Reduced motivation and engagement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 (2/2)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769390" y="6592494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600" dirty="0">
                <a:latin typeface="Arial" panose="020B0604020202020204" pitchFamily="34" charset="0"/>
              </a:rPr>
              <a:t>Poor mental health affects both: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Individual performance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Team collaboration and communication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Supportive environments (low stress, good communication) improve productivity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600" dirty="0">
                <a:latin typeface="Arial" panose="020B0604020202020204" pitchFamily="34" charset="0"/>
              </a:rPr>
              <a:t>Digital tools can: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Enhance productivity when used properly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Increase anxiety if overused or relied on excessively</a:t>
            </a: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lang="en-US" sz="800" dirty="0">
              <a:latin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8E021C-9BA5-9CCD-AC90-040D09F6A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23165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769390" y="6592494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6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0" y="1753923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endParaRPr lang="en-US" sz="800" dirty="0"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6A762D-5698-DA6A-5BA3-4301BEA82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548" y="539887"/>
            <a:ext cx="9130050" cy="614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Strong relationship exists between mental health and productivity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Psychological well-being directly impacts cognitive and emotional functioning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Poor mental health leads to: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 performance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Increased absenteeism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Reduced work quality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Good mental health promotes: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Better focus and creativity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Higher engagement and efficiency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Organizations and institutions must: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mental health awareness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supportive environments and resources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2187E-36E4-E368-BBB8-BBC256A97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Snapshots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CAB4E0-12CD-B325-FC0E-4CDA80E3A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3" y="922733"/>
            <a:ext cx="4201151" cy="56983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B467B8-47C5-343C-C8F7-A1F4B0666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7796" y="922733"/>
            <a:ext cx="4696691" cy="569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384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769390" y="6592494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FF6F58-264A-F010-93DD-0AF3A63606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" y="837720"/>
            <a:ext cx="9037320" cy="53707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Conduct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longitudinal studies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understand long-term effects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diverse populations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(different cultures, professions, age groups)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Study evolving impact of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digital technologies and remote work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Evaluate effectiveness of: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Counseling programs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Stress management techniques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Mental health intervention </a:t>
            </a:r>
            <a:r>
              <a:rPr lang="en-US" altLang="en-US" sz="2500" dirty="0">
                <a:latin typeface="Arial" panose="020B0604020202020204" pitchFamily="34" charset="0"/>
              </a:rPr>
              <a:t>Include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better policies and workplace strategies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Encourage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interdisciplinary research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combining psychology, data science, and management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B2EE-CEEA-A4EC-4F3B-60BA6013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</a:p>
        </p:txBody>
      </p:sp>
      <p:sp>
        <p:nvSpPr>
          <p:cNvPr id="10" name="ReferencesBody"/>
          <p:cNvSpPr txBox="1"/>
          <p:nvPr/>
        </p:nvSpPr>
        <p:spPr>
          <a:xfrm>
            <a:off x="457200" y="1200000"/>
            <a:ext cx="8229600" cy="510000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[1] R. C. Kessler, P. E. Greenberg, K. D. Mickelson, L. M. </a:t>
            </a:r>
            <a:r>
              <a:rPr lang="en-US" sz="1400" dirty="0" err="1"/>
              <a:t>Meneades</a:t>
            </a:r>
            <a:r>
              <a:rPr lang="en-US" sz="1400" dirty="0"/>
              <a:t>, and P. S. Wang, “The effects of chronic medical conditions on work loss and productivity,” Journal of Occupational and Environmental Medicine, vol. 43, no. 3, pp. 218–225, 2001.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 [2] C. Maslach and S. E. Jackson, “The measurement of experienced burnout,” Journal of Occupational Behavior, vol. 2, no. 2, pp. 99–113, 1981.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 [3] A. B. Bakker and E. Demerouti, “The Job Demands–Resources model: State of the art,” Journal of Managerial Psychology, vol. 22, no. 3, pp. 309–328, 2007.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 [4] W. B. Schaufeli, M. Salanova, V. González‑</a:t>
            </a:r>
            <a:r>
              <a:rPr lang="en-US" sz="1400" dirty="0" err="1"/>
              <a:t>Romá</a:t>
            </a:r>
            <a:r>
              <a:rPr lang="en-US" sz="1400" dirty="0"/>
              <a:t>, and A. B. Bakker, “The measurement of engagement and burnout,” Journal of Happiness Studies, vol. 3, no. 1, pp. 71–92, 2002. 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[5] E. L. Deci and R. M. Ryan, “The ‘what’ and ‘why’ of goal pursuits: Human needs and the self‑determination of behavior,” Psychological Inquiry, vol. 11, no. 4, pp. 227–268, 2000.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 [6] R. S. Lazarus and S. Folkman, Stress, Appraisal, and Coping. New York, NY, USA: Springer, 1984.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 [7] H. W. Marsh and R. G. Craven, “Reciprocal effects of self‑concept and performance,” Perspectives on Psychological Science, vol. 1, no. 2, pp. 133–163, 2006.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 [8] C. L. Cooper and S. Cartwright, “Healthy mind; healthy organization,” Human Relations, vol. 47, no. 4, pp. 455–471, 1994.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 [9] D. Goleman, Emotional Intelligence: Why It Can Matter More Than IQ. New York, NY, USA: Bantam Books, 1995. 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sz="1400" dirty="0"/>
              <a:t>[10] T. M. Amabile, Creativity in Context. Boulder, CO, USA: Westview Press, 1996. 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88233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10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34824</TotalTime>
  <Words>857</Words>
  <Application>Microsoft Office PowerPoint</Application>
  <PresentationFormat>On-screen Show (4:3)</PresentationFormat>
  <Paragraphs>112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Times New Roman</vt:lpstr>
      <vt:lpstr>Office Theme</vt:lpstr>
      <vt:lpstr>c1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Snapshots </vt:lpstr>
      <vt:lpstr>PowerPoint Presentation</vt:lpstr>
      <vt:lpstr>References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Khushi Bansal</cp:lastModifiedBy>
  <cp:revision>2303</cp:revision>
  <dcterms:created xsi:type="dcterms:W3CDTF">2010-04-09T07:36:15Z</dcterms:created>
  <dcterms:modified xsi:type="dcterms:W3CDTF">2026-04-28T13:50:33Z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